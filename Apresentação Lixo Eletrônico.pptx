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sldIdLst>
    <p:sldId id="256" r:id="rId4"/>
    <p:sldId id="257" r:id="rId5"/>
    <p:sldId id="258" r:id="rId6"/>
    <p:sldId id="267" r:id="rId7"/>
    <p:sldId id="262" r:id="rId8"/>
    <p:sldId id="263" r:id="rId9"/>
    <p:sldId id="266" r:id="rId10"/>
    <p:sldId id="264" r:id="rId11"/>
    <p:sldId id="265" r:id="rId12"/>
    <p:sldId id="259" r:id="rId13"/>
    <p:sldId id="261" r:id="rId14"/>
  </p:sldIdLst>
  <p:sldSz cx="12192000" cy="6858000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ENATA" initials="R" lastIdx="1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A2EC0E-3A60-4B0B-A9BF-3CB2279CC864}" v="28" dt="2025-05-22T21:51:34.2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commentAuthors" Target="commentAuthors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4">
    <p:pos x="3004" y="382"/>
    <p:text>Problemática
Justificativa
Objetivo Geral
Objetivos Específicos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10">
    <p:pos x="3004" y="382"/>
    <p:text>Problemática
Justificativa
Objetivo Geral
Objetivos Específicos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5:59.687" idx="5">
    <p:pos x="6774" y="708"/>
    <p:text>NÃO MUDAR ESSA FRASE: é uma abordagem qualitativa, de natureza teórica, sem procedimentos práticos e baseados em referenciais teóricos.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6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7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1:17.556" idx="8">
    <p:pos x="4500" y="846"/>
    <p:text>Relevância da pesquisa
Proposição de outros estudos e dos estudos práticos (desenvolvimento do sistema)</p:tex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2:14.520" idx="9">
    <p:pos x="3404" y="394"/>
    <p:text>As utilizadas no resumo
somentes as citadas no resumo. No formato ABNT</p:tex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54BF1D-9063-4BEE-8C72-9172F3A10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60633D-40BE-4823-9D70-E90BB7E20D1C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69E3E4-B284-4FE0-B385-0F8C00EF3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5AF429-F4C5-4AE9-85EC-F9081058D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376E9B-F499-4203-B2B7-B90579D709D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2083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09E057-8CC4-4B72-9DC1-A31421810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E774B-487E-45DD-9EDF-6BED9A23258C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A54BED-FCEE-4716-B9AD-92F175B41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60C75F-45BA-47EC-BF95-DB68E04D4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504699-A3AE-447D-826C-41FBB7146AD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4076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680335-1A72-4BAF-9C76-726DB6793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E496CB-9C79-4F24-8900-BEAF2F43C272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4608FB-BD3D-43E9-987C-7A569FA60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923D7B-8A56-4460-BE44-AECAC8F96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E72C3A-DFB6-4362-8AA1-77746B1B40D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334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81376A55-6023-45D0-B48D-15049DA29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73C6A4-A5A0-4D45-846F-65CCFFEEC21A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4080E98E-C07A-4400-8991-186F4B90F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15AC8817-6596-40C4-A8E0-8FFAC94E2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E2781E-1EB2-4E16-A791-F5211820C14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1018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2861D758-1FE0-4971-BE41-9F6028AAC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22D825-50E8-407D-964F-390DD4A6EBBE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DE358DC8-9B77-498D-8753-A078F1212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2CE94B5D-1616-4C55-A89B-40ECCC078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2693F5-9C85-43CB-B7E0-FB01AAC861D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0518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BA2D40DB-7005-4836-B972-A18333792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B099B0-8A28-4091-9FCE-463505D2C396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8A1047F2-59FB-44FD-BD83-11D13BCAE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AB6F6D58-2A68-431F-BD29-0AD166C30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D1B0F8-74DD-4CFD-9ECB-AEA8D334A80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957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4DCEA456-5F93-42B8-90D3-B80767151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7A9671-140B-4CAD-94EE-9C8FE680A172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D4872FA2-4B83-4B64-8CCD-4099798E4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2DF0C6A5-97D8-446D-8FB0-32AFAFF2C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73105E-A30B-4646-AAA3-D14AC42A754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401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5C0CF51B-150F-4068-9B69-BE5A440BF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62EE6E-4B83-4D73-9FEE-DE8B52599F73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6E956705-34F3-4C04-8055-8FC6BB755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A4CA0301-8D71-4A14-AF5C-73E8B5D29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0A42F-E3C1-4FE4-BAB8-FE2E13519CF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0993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C6A6CFAF-0039-4742-BF82-6A3297D59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D17BCC-C147-4A22-9D3F-1A183D22AB45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7001FB79-1E19-4F7F-AABA-F8DD36486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027E90B3-6B96-499F-B52E-480CED0BB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984595-D2D9-4499-BBBF-2895162EC21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4383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837088-123D-4E52-B5EE-F08245DEC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C92DF3-17FE-4197-A72D-5EC4B2ABA984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B51A36-6804-4661-B7CE-7F105145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EA23DC-5335-4790-8FE8-A9D877E7A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9F0D61-2AED-4ECA-9E41-BCE1FB0F7CE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7967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577FD3-66D5-44AA-9AEA-1638DCFEC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ADCA3-6B48-42C4-B0DF-65A35F6686A5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20080C-E1B6-48A7-AAA3-3B83BC5E9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0622DC-C128-40FE-9C25-D2F199A0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654256-EFD0-4C01-8578-2EF66A3C434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9957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77D4EDEA-CACC-4B35-A5FD-343ED0E89A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3E47DE05-9267-49D0-929B-B874559012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de texto Mestres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D47411-213C-4A24-A115-2F843872FE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0998AB7-6241-4527-818B-1F510D3FF9C9}" type="datetimeFigureOut">
              <a:rPr lang="pt-BR"/>
              <a:pPr>
                <a:defRPr/>
              </a:pPr>
              <a:t>15/10/2026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C4DAFF-9CD9-46A5-9816-EAB3A142CD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60DC86-0528-45D8-A884-FD62E2029F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06AE7DB-D177-4AFD-9C5A-47E4B8C9750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ítulo 1">
            <a:extLst>
              <a:ext uri="{FF2B5EF4-FFF2-40B4-BE49-F238E27FC236}">
                <a16:creationId xmlns:a16="http://schemas.microsoft.com/office/drawing/2014/main" id="{35EB6B86-5848-4EE5-B863-DD00F306704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2051" name="Subtítulo 2">
            <a:extLst>
              <a:ext uri="{FF2B5EF4-FFF2-40B4-BE49-F238E27FC236}">
                <a16:creationId xmlns:a16="http://schemas.microsoft.com/office/drawing/2014/main" id="{EFAE6E1B-4A73-4637-B080-37FEF0FFBAE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pt-BR" altLang="pt-BR" dirty="0"/>
          </a:p>
        </p:txBody>
      </p:sp>
      <p:pic>
        <p:nvPicPr>
          <p:cNvPr id="2052" name="Imagem 4" descr="Gráfico, Gráfico de funil&#10;&#10;Descrição gerada automaticamente">
            <a:extLst>
              <a:ext uri="{FF2B5EF4-FFF2-40B4-BE49-F238E27FC236}">
                <a16:creationId xmlns:a16="http://schemas.microsoft.com/office/drawing/2014/main" id="{876DEAEF-F5B3-4719-8ED0-6E0EC47C6A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Imagem 8" descr="Logotipo&#10;&#10;Descrição gerada automaticamente com confiança baixa">
            <a:extLst>
              <a:ext uri="{FF2B5EF4-FFF2-40B4-BE49-F238E27FC236}">
                <a16:creationId xmlns:a16="http://schemas.microsoft.com/office/drawing/2014/main" id="{AAD5FBF0-2170-4100-A44E-5DCD823B8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1638" y="2763837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ítulo 1">
            <a:extLst>
              <a:ext uri="{FF2B5EF4-FFF2-40B4-BE49-F238E27FC236}">
                <a16:creationId xmlns:a16="http://schemas.microsoft.com/office/drawing/2014/main" id="{D21B3ED0-D5BF-48AB-93CA-9B9E222924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3075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F7102E8A-CB45-4A10-AB16-9CFF74D650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307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60867" y="1852596"/>
            <a:ext cx="6451599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TI VERDE: Os impactos ambientais do Lixo eletrônico</a:t>
            </a: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7675" y="2237462"/>
            <a:ext cx="3234906" cy="18466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12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Profa. Isabella Luiza dos Santos Souza</a:t>
            </a:r>
            <a:endParaRPr lang="pt-BR" altLang="pt-BR" sz="1200" dirty="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Mateus Egídio de Jesus</a:t>
            </a: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Matheus Almeida da Mota</a:t>
            </a: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Vinícius Gregório Oliveira Sanches</a:t>
            </a: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Leticia Filomeno da Silva</a:t>
            </a: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Livia dos santos Ferreira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93285" y="5920861"/>
            <a:ext cx="3045124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1400" b="1" dirty="0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Análise e Desenvolvimento de Sistemas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4876" y="3653234"/>
            <a:ext cx="323490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pt-BR" sz="1000" b="1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Sustentabilidade, Ecossistema e Descarte</a:t>
            </a:r>
          </a:p>
        </p:txBody>
      </p:sp>
      <p:pic>
        <p:nvPicPr>
          <p:cNvPr id="15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344" y="5931073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tângulo 1"/>
          <p:cNvSpPr/>
          <p:nvPr/>
        </p:nvSpPr>
        <p:spPr>
          <a:xfrm>
            <a:off x="10215847" y="5254109"/>
            <a:ext cx="1085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2026.2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PROBLEMÁTICA</a:t>
            </a:r>
          </a:p>
          <a:p>
            <a:pPr marL="285750" indent="-285750"/>
            <a:r>
              <a:rPr lang="pt-BR" sz="1400" dirty="0">
                <a:latin typeface="Verdana" pitchFamily="34" charset="0"/>
                <a:ea typeface="Verdana" pitchFamily="34" charset="0"/>
              </a:rPr>
              <a:t>Quais os impactos ambientais provocados pelo descarte irregular dos resíduos eletrônicos? </a:t>
            </a:r>
          </a:p>
          <a:p>
            <a:pPr marL="285750" indent="-285750"/>
            <a:r>
              <a:rPr lang="pt-BR" sz="1400" dirty="0">
                <a:latin typeface="Verdana" pitchFamily="34" charset="0"/>
                <a:ea typeface="Verdana" pitchFamily="34" charset="0"/>
              </a:rPr>
              <a:t> Quais materiais são os mais descartados? como esse descuido prejudica a saúde humana e o ecossistema?</a:t>
            </a: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JUSTIFICATIVA</a:t>
            </a:r>
          </a:p>
          <a:p>
            <a:pPr marL="285750" indent="-285750"/>
            <a:r>
              <a:rPr lang="pt-BR" sz="1400" dirty="0">
                <a:latin typeface="Verdana" pitchFamily="34" charset="0"/>
                <a:ea typeface="Verdana" pitchFamily="34" charset="0"/>
              </a:rPr>
              <a:t> Crescimento a respeito do lixo eletrônico de acordo com a evolução tecnológica</a:t>
            </a:r>
          </a:p>
          <a:p>
            <a:pPr marL="285750" indent="-285750"/>
            <a:r>
              <a:rPr lang="pt-BR" sz="1400" dirty="0">
                <a:latin typeface="Verdana" pitchFamily="34" charset="0"/>
                <a:ea typeface="Verdana" pitchFamily="34" charset="0"/>
              </a:rPr>
              <a:t> Ações de conscientização sobre o descarte correto para profissionais e estudante de tecnologia</a:t>
            </a: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C83F4-C754-5493-758B-064E4E9F6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EAACA6E4-00F2-A955-1957-4F467F6213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74C8AAD2-BFF4-21B8-4A87-79E7FD0BB2D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55F3FA2C-B60D-0465-6983-3F4AE419E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OBJETIVO GERAL</a:t>
            </a:r>
          </a:p>
          <a:p>
            <a:pPr marL="285750" indent="-285750"/>
            <a:r>
              <a:rPr lang="pt-BR" sz="1400" dirty="0">
                <a:latin typeface="Verdana" pitchFamily="34" charset="0"/>
                <a:ea typeface="Verdana" pitchFamily="34" charset="0"/>
              </a:rPr>
              <a:t>Analisar os impactos ambientais do descarte inadequado</a:t>
            </a:r>
          </a:p>
          <a:p>
            <a:pPr marL="285750" indent="-285750"/>
            <a:r>
              <a:rPr lang="pt-BR" sz="1400" dirty="0">
                <a:latin typeface="Verdana" pitchFamily="34" charset="0"/>
                <a:ea typeface="Verdana" pitchFamily="34" charset="0"/>
              </a:rPr>
              <a:t>Identificar práticas da TI Verde para gestão correta do lixo eletrônico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OBJETIVOS ESPECÍFICOS</a:t>
            </a:r>
          </a:p>
          <a:p>
            <a:pPr marL="285750" indent="-285750"/>
            <a:r>
              <a:rPr lang="pt-BR" sz="1400" dirty="0">
                <a:latin typeface="Verdana" pitchFamily="34" charset="0"/>
                <a:ea typeface="Verdana" pitchFamily="34" charset="0"/>
              </a:rPr>
              <a:t>Divulgação das práticas da TI Verde</a:t>
            </a:r>
          </a:p>
          <a:p>
            <a:pPr marL="285750" indent="-285750"/>
            <a:r>
              <a:rPr lang="pt-BR" sz="1400" dirty="0">
                <a:latin typeface="Verdana" pitchFamily="34" charset="0"/>
                <a:ea typeface="Verdana" pitchFamily="34" charset="0"/>
              </a:rPr>
              <a:t>Analisar as consequências e métodos de descarte no cotidiano</a:t>
            </a:r>
          </a:p>
          <a:p>
            <a:pPr marL="285750" indent="-285750"/>
            <a:r>
              <a:rPr lang="pt-BR" sz="1400" dirty="0">
                <a:latin typeface="Verdana" pitchFamily="34" charset="0"/>
                <a:ea typeface="Verdana" pitchFamily="34" charset="0"/>
              </a:rPr>
              <a:t>Conscientizar a população sobre a importância do Lixo eletrônico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92303B23-9EE7-A945-ACCA-0ED7F7863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3199D05E-CDE1-B4DE-09A7-4775D5F5C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2028430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2550" y="6030911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0067" y="777875"/>
            <a:ext cx="5283202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pt-BR"/>
            </a:defPPr>
            <a:lvl1pPr>
              <a:spcBef>
                <a:spcPct val="50000"/>
              </a:spcBef>
              <a:defRPr sz="3000" b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fontAlgn="base">
              <a:spcBef>
                <a:spcPct val="0"/>
              </a:spcBef>
              <a:spcAft>
                <a:spcPct val="0"/>
              </a:spcAft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pt-BR" altLang="pt-BR" dirty="0"/>
              <a:t>METODOLOGIA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C6B2C7A-E59D-5A67-500D-5262D5121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0067" y="2103438"/>
            <a:ext cx="6130925" cy="795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None/>
            </a:pPr>
            <a:r>
              <a:rPr lang="pt-B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As metodologias utilizadas são pesquisas bibliográficas e descritivas, com teor comparativo e exploratório dos resultados</a:t>
            </a:r>
            <a:endParaRPr lang="pt-BR" sz="1800" dirty="0">
              <a:effectLst/>
              <a:latin typeface="Arial" panose="020B0604020202020204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AEAF551-11DE-43A4-BF04-033179CECDD6}"/>
              </a:ext>
            </a:extLst>
          </p:cNvPr>
          <p:cNvSpPr txBox="1"/>
          <p:nvPr/>
        </p:nvSpPr>
        <p:spPr>
          <a:xfrm>
            <a:off x="5630067" y="3105834"/>
            <a:ext cx="61552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 coleta das informações foi realizada por meio de três artigos acadêmicos do assunto com finalidades distintas</a:t>
            </a:r>
            <a:endParaRPr lang="pt-BR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80F0C99A-999C-4336-ABCA-A22A7E41086D}"/>
              </a:ext>
            </a:extLst>
          </p:cNvPr>
          <p:cNvSpPr txBox="1"/>
          <p:nvPr/>
        </p:nvSpPr>
        <p:spPr>
          <a:xfrm>
            <a:off x="5630067" y="4167201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Os conteúdos se dividem no entendimento do impacto, ferramentas ou equipamentos descartados e práticas junto à TI Verde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04270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5281" y="6191779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487892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01DEED65-4293-70B7-FE9D-9EBEBFE6A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622088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 EIXO 1: IMPACTOS AMBIENTAIS DO DESCARTE IRREGULAR:</a:t>
            </a:r>
          </a:p>
          <a:p>
            <a:pPr marL="285750" indent="-285750"/>
            <a:r>
              <a:rPr lang="pt-BR" sz="1400" dirty="0">
                <a:latin typeface="Verdana" pitchFamily="34" charset="0"/>
                <a:ea typeface="Verdana" pitchFamily="34" charset="0"/>
              </a:rPr>
              <a:t>Sua toxicidade presente no chumbo, cádmio e mercúrio, destacam Castro (2020);</a:t>
            </a: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285750" indent="-285750"/>
            <a:r>
              <a:rPr lang="pt-BR" sz="1400" dirty="0">
                <a:latin typeface="Verdana" pitchFamily="34" charset="0"/>
                <a:ea typeface="Verdana" pitchFamily="34" charset="0"/>
              </a:rPr>
              <a:t>Contaminação do solo e da água, aspectos fundamentais para o ecossistema e a saúde humana, como reforçam Souza Filho e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Murarolli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(2021);</a:t>
            </a: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285750" indent="-285750"/>
            <a:r>
              <a:rPr lang="pt-BR" sz="1400" dirty="0">
                <a:latin typeface="Verdana" pitchFamily="34" charset="0"/>
                <a:ea typeface="Verdana" pitchFamily="34" charset="0"/>
              </a:rPr>
              <a:t>Reciclagem dinâmica adequada com a conscientização da população;</a:t>
            </a: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285750" indent="-285750"/>
            <a:r>
              <a:rPr lang="pt-BR" sz="1400" dirty="0">
                <a:latin typeface="Verdana" pitchFamily="34" charset="0"/>
                <a:ea typeface="Verdana" pitchFamily="34" charset="0"/>
              </a:rPr>
              <a:t>Perigos desses descartes com ajuda de Pesquisas estatísticas e dados ambientais de danos urbanos por Castro (2020); </a:t>
            </a: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285750" indent="-285750"/>
            <a:r>
              <a:rPr lang="pt-BR" sz="1400" dirty="0">
                <a:latin typeface="Verdana" pitchFamily="34" charset="0"/>
                <a:ea typeface="Verdana" pitchFamily="34" charset="0"/>
              </a:rPr>
              <a:t>Abordagem teórica sobre riscos biológicos do desgaste de equipamentos ultrapassados de Souza Filho e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Murarolli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(2021).</a:t>
            </a:r>
          </a:p>
          <a:p>
            <a:pPr marL="285750" indent="-285750"/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392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BF27EDCF-BF92-8A03-B585-1969DD1D71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8319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EIXO 2: TI VERDE: Práticas sustentáveis no gerenciamento dos resíduos</a:t>
            </a:r>
          </a:p>
          <a:p>
            <a:pPr marL="285750" indent="-285750"/>
            <a:r>
              <a:rPr lang="pt-BR" sz="1400" dirty="0">
                <a:latin typeface="Verdana" pitchFamily="34" charset="0"/>
                <a:ea typeface="Verdana" pitchFamily="34" charset="0"/>
              </a:rPr>
              <a:t>Programa geral com foco em práticas para reduzir os impactos ambientais no uso tecnológico;</a:t>
            </a:r>
          </a:p>
          <a:p>
            <a:pPr marL="285750" indent="-285750"/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285750" indent="-285750"/>
            <a:r>
              <a:rPr lang="pt-BR" sz="1400" dirty="0">
                <a:latin typeface="Verdana" pitchFamily="34" charset="0"/>
                <a:ea typeface="Verdana" pitchFamily="34" charset="0"/>
              </a:rPr>
              <a:t>Promoção o desenvolvimento sustentável descrito por Souza Filho e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Murarolli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(2021);</a:t>
            </a:r>
          </a:p>
          <a:p>
            <a:pPr marL="285750" indent="-285750"/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285750" indent="-285750"/>
            <a:r>
              <a:rPr lang="pt-BR" sz="1400" dirty="0">
                <a:latin typeface="Verdana" pitchFamily="34" charset="0"/>
                <a:ea typeface="Verdana" pitchFamily="34" charset="0"/>
              </a:rPr>
              <a:t>Reaproveitamento de equipamentos e o prolongamento da vida útil dos aparelhos, ressaltado por Cruz (2023);</a:t>
            </a: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285750" indent="-285750"/>
            <a:r>
              <a:rPr lang="pt-BR" sz="1400" dirty="0">
                <a:latin typeface="Verdana" pitchFamily="34" charset="0"/>
                <a:ea typeface="Verdana" pitchFamily="34" charset="0"/>
              </a:rPr>
              <a:t>Participação adequada das grandes empresas ou outras instituições para a coleta regular dos resíduos.</a:t>
            </a: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285750" indent="-285750"/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2418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8112" y="6154737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844550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CONSIDERAÇÕES FINAIS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BAA0655-280C-904A-F03E-0947DA860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30134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Desenvolvimento da Literatura Analítica dos artigos;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Prática e participação contínua do TI Verde;</a:t>
            </a: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Definição dos danos ambientais provocados pelo descarte irregular do lixo eletrônico, ocorrendo pela liberação dos metais pesados;</a:t>
            </a: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A conscientização dependente da educação ambiental forte, presente nas instituições acadêmicas.</a:t>
            </a: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51970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7620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106" y="1460956"/>
            <a:ext cx="6066631" cy="2851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None/>
            </a:pPr>
            <a:endParaRPr lang="pt-BR" alt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CASTRO,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Inae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et al. O descarte do lixo eletrônico e seus impactos ambientais. Revista Acadêmica Faculdade Oswaldo Cruz, São Paulo, v. 7, n. 27, p. 1-14, jul./set. 2020. Disponível em: https://www.oswaldocruz.br/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revista_academica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/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content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/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pdf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/Edicao27_Inae_Castro.pdf. Acesso em: 7 out. 2026.</a:t>
            </a: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CRUZ, Bruno Felix da. Lixo Eletrônico: impactos, descarte e educação ambiental.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EntreAções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: diálogos em extensão, Juazeiro do Norte, v. 4, n. 2, p. 19-30, jul./dez. 2023. Disponível em: https://periodicos.ufca.edu.br/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ojs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/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index.php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/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entreacoes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/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article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/download/1211/838/. Acesso em: 7 out. 2026.</a:t>
            </a: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SOUZA FILHO, Paulo Sérgio de; MURAROLLI, Priscila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Ligabó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. Impactos do lixo eletrônico na sociedade e soluções educativas para a triagem. Perspectiva, [S. l.], v. 10, p. 37–48, 2021. Disponível em: https://fatece.edu.br/arquivos/arquivos-revistas/perspectiva/volume10/Paulo%20Sergio%20de%20Souza%20Filho;%20Priscila%20Ligabo%20Murarolli.pdf. Acesso em: 7 out. 2026.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5281" y="365125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106" y="44298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REFERÊNCIAS BIBLIOGRÁFICA</a:t>
            </a:r>
          </a:p>
        </p:txBody>
      </p:sp>
    </p:spTree>
    <p:extLst>
      <p:ext uri="{BB962C8B-B14F-4D97-AF65-F5344CB8AC3E}">
        <p14:creationId xmlns:p14="http://schemas.microsoft.com/office/powerpoint/2010/main" val="1283984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ítulo 1">
            <a:extLst>
              <a:ext uri="{FF2B5EF4-FFF2-40B4-BE49-F238E27FC236}">
                <a16:creationId xmlns:a16="http://schemas.microsoft.com/office/drawing/2014/main" id="{EEF05124-4115-43F9-BCFF-F980C8F42D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5123" name="Espaço Reservado para Conteúdo 4" descr="Uma imagem contendo Retângulo&#10;&#10;Descrição gerada automaticamente">
            <a:extLst>
              <a:ext uri="{FF2B5EF4-FFF2-40B4-BE49-F238E27FC236}">
                <a16:creationId xmlns:a16="http://schemas.microsoft.com/office/drawing/2014/main" id="{8E1F7DDD-FF2A-43EE-909F-663635D2B2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5124" name="Text Box 6">
            <a:extLst>
              <a:ext uri="{FF2B5EF4-FFF2-40B4-BE49-F238E27FC236}">
                <a16:creationId xmlns:a16="http://schemas.microsoft.com/office/drawing/2014/main" id="{E223242B-36FC-4EDF-B7C1-F179D9876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4466" y="2658517"/>
            <a:ext cx="10143067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“</a:t>
            </a:r>
            <a:r>
              <a:rPr lang="pt-BR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Agradecemos a atenção de todos pela apresentação!</a:t>
            </a:r>
            <a:r>
              <a:rPr lang="en-US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”</a:t>
            </a:r>
            <a:endParaRPr lang="pt-BR" altLang="pt-BR" sz="3200" dirty="0">
              <a:solidFill>
                <a:srgbClr val="002D55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ítulo 1">
            <a:extLst>
              <a:ext uri="{FF2B5EF4-FFF2-40B4-BE49-F238E27FC236}">
                <a16:creationId xmlns:a16="http://schemas.microsoft.com/office/drawing/2014/main" id="{EC112F46-5108-40C3-808D-99567C1815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7171" name="Espaço Reservado para Conteúdo 4" descr="Uma imagem contendo Forma&#10;&#10;Descrição gerada automaticamente">
            <a:extLst>
              <a:ext uri="{FF2B5EF4-FFF2-40B4-BE49-F238E27FC236}">
                <a16:creationId xmlns:a16="http://schemas.microsoft.com/office/drawing/2014/main" id="{3179E142-1D8E-4F12-A1B5-DEAE3BD929C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7172" name="Imagem 6" descr="Logotipo&#10;&#10;Descrição gerada automaticamente com confiança baixa">
            <a:extLst>
              <a:ext uri="{FF2B5EF4-FFF2-40B4-BE49-F238E27FC236}">
                <a16:creationId xmlns:a16="http://schemas.microsoft.com/office/drawing/2014/main" id="{1FB7FF44-5FE7-4823-AD16-37782FFAD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3" y="2763838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DAED1B117F6894D909B25A69A4597D2" ma:contentTypeVersion="11" ma:contentTypeDescription="Crie um novo documento." ma:contentTypeScope="" ma:versionID="fc0e1081098a96f1fc26b259e7bbb1c8">
  <xsd:schema xmlns:xsd="http://www.w3.org/2001/XMLSchema" xmlns:xs="http://www.w3.org/2001/XMLSchema" xmlns:p="http://schemas.microsoft.com/office/2006/metadata/properties" xmlns:ns2="0cd93fe2-0880-41f5-aab4-f958682b72cb" xmlns:ns3="18000554-2c77-4cf4-9366-a485aa9d7e35" targetNamespace="http://schemas.microsoft.com/office/2006/metadata/properties" ma:root="true" ma:fieldsID="f39cd65ee00b5e4c5dd2756fb7575f2f" ns2:_="" ns3:_="">
    <xsd:import namespace="0cd93fe2-0880-41f5-aab4-f958682b72cb"/>
    <xsd:import namespace="18000554-2c77-4cf4-9366-a485aa9d7e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d93fe2-0880-41f5-aab4-f958682b72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000554-2c77-4cf4-9366-a485aa9d7e35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EB3752F-42B6-452F-9AAE-531B322245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d93fe2-0880-41f5-aab4-f958682b72cb"/>
    <ds:schemaRef ds:uri="18000554-2c77-4cf4-9366-a485aa9d7e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4661556-5590-415F-9315-F9BACBDA7B8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939</TotalTime>
  <Words>687</Words>
  <Application>Microsoft Office PowerPoint</Application>
  <PresentationFormat>Widescreen</PresentationFormat>
  <Paragraphs>75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Verdana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Criação 04</dc:creator>
  <cp:lastModifiedBy>MATEUS</cp:lastModifiedBy>
  <cp:revision>26</cp:revision>
  <dcterms:created xsi:type="dcterms:W3CDTF">2021-05-14T17:32:15Z</dcterms:created>
  <dcterms:modified xsi:type="dcterms:W3CDTF">2026-10-15T23:11:03Z</dcterms:modified>
</cp:coreProperties>
</file>